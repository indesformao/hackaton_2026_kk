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9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4D4D"/>
    <a:srgbClr val="333333"/>
    <a:srgbClr val="1C1C1C"/>
    <a:srgbClr val="5F5F5F"/>
    <a:srgbClr val="808080"/>
    <a:srgbClr val="939598"/>
    <a:srgbClr val="5995EE"/>
    <a:srgbClr val="1428A0"/>
    <a:srgbClr val="2C3694"/>
    <a:srgbClr val="B9B9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24312421662010261"/>
          <c:y val="0.24290808792426699"/>
          <c:w val="0.71190383170154137"/>
          <c:h val="0.5939019515599185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Результаты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Программа+Ручная</c:v>
                </c:pt>
                <c:pt idx="1">
                  <c:v>Программа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0.114</c:v>
                </c:pt>
                <c:pt idx="1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39-48FD-B27F-60BBB264F1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934793919"/>
        <c:axId val="879827631"/>
      </c:barChart>
      <c:catAx>
        <c:axId val="93479391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79827631"/>
        <c:crosses val="autoZero"/>
        <c:auto val="1"/>
        <c:lblAlgn val="ctr"/>
        <c:lblOffset val="100"/>
        <c:noMultiLvlLbl val="0"/>
      </c:catAx>
      <c:valAx>
        <c:axId val="87982763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347939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A360CC-EA73-42C9-84F5-6699B47B40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D97B2FB-2B03-481C-94F3-95F056436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8417B7-3E77-4CA8-BE95-4A770EB96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17B06-32AE-4136-8B39-7EACAE4884B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1AC096-6F8C-4808-9A93-963C87B17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33E06E-62EE-4792-A708-DD945BC92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7A6F2-EE4D-4D04-9C3D-584DD16C25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5777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46DE66-8D80-4D2A-9687-99B671E03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6D6443-656C-4613-BB10-D3DA25447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9C9255-0FA1-4B4C-B68C-60179AB1D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17B06-32AE-4136-8B39-7EACAE4884B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9810FD0-3A4F-48FB-BD35-9CE942E7D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19B07C-9705-4582-BAFB-DAA494C4E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7A6F2-EE4D-4D04-9C3D-584DD16C25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3709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3FD75D-3A1E-4C74-9A95-578D0D7A8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B2F0933-F0EE-4448-9F57-E5FAC7D8E4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020B8A-242C-4228-BD56-E9CCC31AE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17B06-32AE-4136-8B39-7EACAE4884B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F58FAC-4E74-43EE-ADE3-09DC88AD7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E61D9E-F767-4C89-BF6F-355A10A53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7A6F2-EE4D-4D04-9C3D-584DD16C25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7026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2653BE-5173-423B-83A9-C650E4535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EF8A7B-8045-4BAE-B965-EFBC769E16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5F6AF33-7A1B-4419-9D2C-5760A178B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098B06F-E1B6-46AA-947F-D4D06144D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17B06-32AE-4136-8B39-7EACAE4884B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AB225C5-5376-4183-8628-7DFC38A43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3F2F90F-7FF9-4A38-843C-A5157B302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7A6F2-EE4D-4D04-9C3D-584DD16C25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8324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93A80-D98D-41C9-9665-308398C6A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0947743-ADA9-4808-8900-716B11C63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0B26630-FE9E-4898-A560-4D00D808AC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CB45BEC-9C05-45CC-9471-58273953D6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08D5AA1-064A-4D3B-992E-490192F6BA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5E58F03-3306-4EA6-8B7A-1D1902BAD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17B06-32AE-4136-8B39-7EACAE4884B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331596D-B4EC-44FC-A5B3-93F57ECCA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A007392-DD61-4C1D-8C36-B2F76AC7D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7A6F2-EE4D-4D04-9C3D-584DD16C25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9194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810ED6-8757-4737-8246-63F2E95A0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43FAE62-5DFD-4D40-8876-67F228662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17B06-32AE-4136-8B39-7EACAE4884B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82AF3E5-7C1D-4304-A60A-71163A02D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5DF0F86-E264-49B7-AB8C-3CE2C2671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7A6F2-EE4D-4D04-9C3D-584DD16C25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3975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9915BC3-9BC3-4393-986C-D2FE4679B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17B06-32AE-4136-8B39-7EACAE4884B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77ECEE4-EC27-4866-96CD-4A0F0178E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4C3B318-C699-4397-A36C-8D11ACBE0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7A6F2-EE4D-4D04-9C3D-584DD16C25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0554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45750-4D81-4FAD-B8CA-8391BD32D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170BC6-22AA-4775-9975-A268C49A7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B975349-7568-481A-B7FF-DFC49EDFB3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8DEC1BA-1FFC-45CC-A606-56DD4C2AA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17B06-32AE-4136-8B39-7EACAE4884B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BA39DB0-3607-46E9-87C4-A03D25970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135FCEA-7767-4319-B395-CFFFEED79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7A6F2-EE4D-4D04-9C3D-584DD16C25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3070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282EC5-1193-4578-9127-A5B48D83A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E398501-E477-41AD-9E2F-81C436B3C8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6E122D-9E58-42F4-A33C-FC05B2D165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A1BD6CB-65A0-4EA8-810E-AE961FEE2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17B06-32AE-4136-8B39-7EACAE4884B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28E7693-E790-4CAA-9754-D31FCBEEB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8E87AC-D81F-4D11-ABB0-508009D4B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7A6F2-EE4D-4D04-9C3D-584DD16C25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2723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6B39DC-1F03-48C0-A3F3-9D32190E3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8FBBC0F-F0C0-409D-9EAA-68818E0008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18DA4F-67C7-4597-AEE7-4F2175CC3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17B06-32AE-4136-8B39-7EACAE4884B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86EB48B-3D53-4B27-B334-15B9AFB27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3E164E-6CFF-4B30-92B7-D9957AF09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7A6F2-EE4D-4D04-9C3D-584DD16C25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4912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AA7F5BD-DF5B-404D-AE10-B95BCBA819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3765BAB-6AA9-4308-86BD-E9BA21132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E01050-7B4E-4FC3-A53C-A73DF600D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17B06-32AE-4136-8B39-7EACAE4884B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4B08C5-D267-4950-AF1D-09CEE4132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4D4A63-6373-49B2-987D-CB5B23116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7A6F2-EE4D-4D04-9C3D-584DD16C25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2261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ED6CE2-43A1-43B4-B7E3-4B75A9099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882724-278E-47DE-BC9D-8E28C68B6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5FC8B6-4D12-4D65-8389-85ABD7EB2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17B06-32AE-4136-8B39-7EACAE4884B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381520-6EEF-49B2-B958-66526C7C59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60010C-0DE2-48CD-BACB-DBAB2A2948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37A6F2-EE4D-4D04-9C3D-584DD16C25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4121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1928EA-16AA-49FA-A179-42F7F24C3C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1129" y="3165229"/>
            <a:ext cx="5439508" cy="1011115"/>
          </a:xfrm>
        </p:spPr>
        <p:txBody>
          <a:bodyPr>
            <a:normAutofit/>
          </a:bodyPr>
          <a:lstStyle/>
          <a:p>
            <a:pPr algn="l"/>
            <a:r>
              <a:rPr lang="ru-RU" dirty="0" err="1">
                <a:solidFill>
                  <a:srgbClr val="1428A0"/>
                </a:solidFill>
                <a:latin typeface="Samsung SS Head Bold" pitchFamily="2" charset="0"/>
                <a:cs typeface="Samsung SS Head Bold" pitchFamily="2" charset="0"/>
              </a:rPr>
              <a:t>Хакатон</a:t>
            </a:r>
            <a:r>
              <a:rPr lang="ru-RU" dirty="0">
                <a:solidFill>
                  <a:srgbClr val="1428A0"/>
                </a:solidFill>
                <a:latin typeface="Samsung SS Head Bold" pitchFamily="2" charset="0"/>
                <a:cs typeface="Samsung SS Head Bold" pitchFamily="2" charset="0"/>
              </a:rPr>
              <a:t> 2026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45DF50A-67C0-46D6-8C31-3F4AE5D856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7799" y="4032860"/>
            <a:ext cx="6204438" cy="495178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solidFill>
                  <a:srgbClr val="5995EE"/>
                </a:solidFill>
                <a:latin typeface="Samsung SS Body Bold" pitchFamily="2" charset="0"/>
                <a:cs typeface="Samsung SS Body Bold" pitchFamily="2" charset="0"/>
              </a:rPr>
              <a:t>Кейс </a:t>
            </a:r>
            <a:r>
              <a:rPr lang="en-US" dirty="0" err="1">
                <a:solidFill>
                  <a:srgbClr val="5995EE"/>
                </a:solidFill>
                <a:latin typeface="Samsung SS Body Bold" pitchFamily="2" charset="0"/>
                <a:cs typeface="Samsung SS Body Bold" pitchFamily="2" charset="0"/>
              </a:rPr>
              <a:t>Arenadata</a:t>
            </a:r>
            <a:r>
              <a:rPr lang="en-US" dirty="0">
                <a:solidFill>
                  <a:srgbClr val="5995EE"/>
                </a:solidFill>
                <a:latin typeface="Samsung SS Body Bold" pitchFamily="2" charset="0"/>
                <a:cs typeface="Samsung SS Body Bold" pitchFamily="2" charset="0"/>
              </a:rPr>
              <a:t>: “</a:t>
            </a:r>
            <a:r>
              <a:rPr lang="ru-RU" dirty="0">
                <a:solidFill>
                  <a:srgbClr val="5995EE"/>
                </a:solidFill>
                <a:latin typeface="Samsung SS Body Bold" pitchFamily="2" charset="0"/>
                <a:cs typeface="Samsung SS Body Bold" pitchFamily="2" charset="0"/>
              </a:rPr>
              <a:t>Поиск утечек данных</a:t>
            </a:r>
            <a:r>
              <a:rPr lang="en-US" dirty="0">
                <a:solidFill>
                  <a:srgbClr val="5995EE"/>
                </a:solidFill>
                <a:latin typeface="Samsung SS Body Bold" pitchFamily="2" charset="0"/>
                <a:cs typeface="Samsung SS Body Bold" pitchFamily="2" charset="0"/>
              </a:rPr>
              <a:t>”</a:t>
            </a:r>
          </a:p>
          <a:p>
            <a:pPr algn="r"/>
            <a:endParaRPr lang="en-US" dirty="0">
              <a:solidFill>
                <a:srgbClr val="5995EE"/>
              </a:solidFill>
              <a:latin typeface="Samsung SS Body Bold" pitchFamily="2" charset="0"/>
              <a:cs typeface="Samsung SS Body Bold" pitchFamily="2" charset="0"/>
            </a:endParaRPr>
          </a:p>
          <a:p>
            <a:pPr algn="r"/>
            <a:endParaRPr lang="en-US" dirty="0">
              <a:solidFill>
                <a:srgbClr val="5995EE"/>
              </a:solidFill>
              <a:latin typeface="Samsung SS Body Bold" pitchFamily="2" charset="0"/>
              <a:cs typeface="Samsung SS Body Bold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087DE6-A6B9-4EAF-8152-0D9F247591D2}"/>
              </a:ext>
            </a:extLst>
          </p:cNvPr>
          <p:cNvSpPr txBox="1"/>
          <p:nvPr/>
        </p:nvSpPr>
        <p:spPr>
          <a:xfrm>
            <a:off x="9252530" y="5404955"/>
            <a:ext cx="20354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939598"/>
                </a:solidFill>
                <a:latin typeface="Samsung SS Body Bold" pitchFamily="2" charset="0"/>
                <a:cs typeface="Samsung SS Body Bold" pitchFamily="2" charset="0"/>
              </a:rPr>
              <a:t>Команда КК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39E6C96-237F-4D74-88FC-3BED9B4786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8404" y="424105"/>
            <a:ext cx="1983746" cy="19049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7061B9-F522-4631-98B9-96998DBBF666}"/>
              </a:ext>
            </a:extLst>
          </p:cNvPr>
          <p:cNvSpPr txBox="1"/>
          <p:nvPr/>
        </p:nvSpPr>
        <p:spPr>
          <a:xfrm>
            <a:off x="623870" y="430106"/>
            <a:ext cx="24689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1428A0"/>
                </a:solidFill>
                <a:latin typeface="Samsung SS Body Bold" pitchFamily="2" charset="0"/>
                <a:cs typeface="Samsung SS Body Bold" pitchFamily="2" charset="0"/>
              </a:rPr>
              <a:t>Кампус</a:t>
            </a:r>
            <a:endParaRPr lang="en-US" dirty="0">
              <a:solidFill>
                <a:srgbClr val="1428A0"/>
              </a:solidFill>
              <a:latin typeface="Samsung SS Body Bold" pitchFamily="2" charset="0"/>
              <a:cs typeface="Samsung SS Body Bold" pitchFamily="2" charset="0"/>
            </a:endParaRPr>
          </a:p>
          <a:p>
            <a:r>
              <a:rPr lang="ru-RU" dirty="0">
                <a:solidFill>
                  <a:srgbClr val="1428A0"/>
                </a:solidFill>
                <a:latin typeface="Samsung SS Body Bold" pitchFamily="2" charset="0"/>
                <a:cs typeface="Samsung SS Body Bold" pitchFamily="2" charset="0"/>
              </a:rPr>
              <a:t>инноваций </a:t>
            </a:r>
            <a:r>
              <a:rPr lang="en-US" dirty="0">
                <a:solidFill>
                  <a:srgbClr val="1428A0"/>
                </a:solidFill>
                <a:latin typeface="Samsung SS Body Bold" pitchFamily="2" charset="0"/>
                <a:cs typeface="Samsung SS Body Bold" pitchFamily="2" charset="0"/>
              </a:rPr>
              <a:t>Samsung</a:t>
            </a:r>
            <a:endParaRPr lang="ru-RU" dirty="0">
              <a:solidFill>
                <a:srgbClr val="1428A0"/>
              </a:solidFill>
              <a:latin typeface="Samsung SS Body Bold" pitchFamily="2" charset="0"/>
              <a:cs typeface="Samsung SS Body Bold" pitchFamily="2" charset="0"/>
            </a:endParaRPr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6E910698-E0B0-4FD5-8574-EB4C99CD2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8005" y="424105"/>
            <a:ext cx="3559544" cy="652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718F943E-25DB-4311-BB41-439AE68BFA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671" y="1076437"/>
            <a:ext cx="2906619" cy="1651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3040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95B23D-D5C5-4369-B7D3-E72225E8C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92186"/>
            <a:ext cx="3932237" cy="1065213"/>
          </a:xfrm>
        </p:spPr>
        <p:txBody>
          <a:bodyPr/>
          <a:lstStyle/>
          <a:p>
            <a:pPr algn="ctr"/>
            <a:r>
              <a:rPr lang="ru-RU" dirty="0">
                <a:solidFill>
                  <a:srgbClr val="333333"/>
                </a:solidFill>
                <a:latin typeface="Samsung SS Head Bold" pitchFamily="2" charset="0"/>
                <a:cs typeface="Samsung SS Head Bold" pitchFamily="2" charset="0"/>
              </a:rPr>
              <a:t>Формулировка</a:t>
            </a:r>
            <a:r>
              <a:rPr lang="ru-RU" dirty="0">
                <a:latin typeface="Samsung SS Head Bold" pitchFamily="2" charset="0"/>
                <a:cs typeface="Samsung SS Head Bold" pitchFamily="2" charset="0"/>
              </a:rPr>
              <a:t>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0E1C3F-4462-4B20-9344-2172D6057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6619" y="992187"/>
            <a:ext cx="6172200" cy="48736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400" b="1" dirty="0">
                <a:solidFill>
                  <a:srgbClr val="333333"/>
                </a:solidFill>
                <a:latin typeface="Samsung SS Body Bold" pitchFamily="2" charset="0"/>
                <a:cs typeface="Samsung SS Body Bold" pitchFamily="2" charset="0"/>
              </a:rPr>
              <a:t>Проблема</a:t>
            </a:r>
          </a:p>
          <a:p>
            <a:r>
              <a:rPr lang="ru-RU" sz="2400" dirty="0">
                <a:solidFill>
                  <a:srgbClr val="5F5F5F"/>
                </a:solidFill>
                <a:latin typeface="Samsung SS Body Light" pitchFamily="2" charset="0"/>
                <a:cs typeface="Samsung SS Body Light" pitchFamily="2" charset="0"/>
              </a:rPr>
              <a:t>В корпоративных хранилищах накапливаются тысячи файлов без структуры</a:t>
            </a:r>
          </a:p>
          <a:p>
            <a:r>
              <a:rPr lang="ru-RU" sz="2400" dirty="0">
                <a:solidFill>
                  <a:srgbClr val="5F5F5F"/>
                </a:solidFill>
                <a:latin typeface="Samsung SS Body Light" pitchFamily="2" charset="0"/>
                <a:cs typeface="Samsung SS Body Light" pitchFamily="2" charset="0"/>
              </a:rPr>
              <a:t>Отсутствует классификация данных</a:t>
            </a:r>
          </a:p>
          <a:p>
            <a:r>
              <a:rPr lang="ru-RU" sz="2400" dirty="0">
                <a:solidFill>
                  <a:srgbClr val="5F5F5F"/>
                </a:solidFill>
                <a:latin typeface="Samsung SS Body Light" pitchFamily="2" charset="0"/>
                <a:cs typeface="Samsung SS Body Light" pitchFamily="2" charset="0"/>
              </a:rPr>
              <a:t>Возможное наличие персональных данных (</a:t>
            </a:r>
            <a:r>
              <a:rPr lang="ru-RU" sz="2400" dirty="0" err="1">
                <a:solidFill>
                  <a:srgbClr val="5F5F5F"/>
                </a:solidFill>
                <a:latin typeface="Samsung SS Body Light" pitchFamily="2" charset="0"/>
                <a:cs typeface="Samsung SS Body Light" pitchFamily="2" charset="0"/>
              </a:rPr>
              <a:t>ПДн</a:t>
            </a:r>
            <a:r>
              <a:rPr lang="ru-RU" sz="2400" dirty="0">
                <a:solidFill>
                  <a:srgbClr val="5F5F5F"/>
                </a:solidFill>
                <a:latin typeface="Samsung SS Body Light" pitchFamily="2" charset="0"/>
                <a:cs typeface="Samsung SS Body Light" pitchFamily="2" charset="0"/>
              </a:rPr>
              <a:t>)</a:t>
            </a:r>
          </a:p>
          <a:p>
            <a:endParaRPr lang="ru-RU" sz="2400" dirty="0">
              <a:solidFill>
                <a:srgbClr val="333333"/>
              </a:solidFill>
            </a:endParaRPr>
          </a:p>
          <a:p>
            <a:pPr marL="0" indent="0">
              <a:buNone/>
            </a:pPr>
            <a:r>
              <a:rPr lang="ru-RU" sz="2400" b="1" dirty="0">
                <a:solidFill>
                  <a:srgbClr val="333333"/>
                </a:solidFill>
                <a:latin typeface="Samsung SS Body Bold" pitchFamily="2" charset="0"/>
                <a:cs typeface="Samsung SS Body Bold" pitchFamily="2" charset="0"/>
              </a:rPr>
              <a:t>Риски:</a:t>
            </a:r>
          </a:p>
          <a:p>
            <a:r>
              <a:rPr lang="ru-RU" sz="2400" dirty="0">
                <a:solidFill>
                  <a:srgbClr val="5F5F5F"/>
                </a:solidFill>
                <a:latin typeface="Samsung SS Body Light" pitchFamily="2" charset="0"/>
                <a:cs typeface="Samsung SS Body Light" pitchFamily="2" charset="0"/>
              </a:rPr>
              <a:t>Нарушение 152-ФЗ </a:t>
            </a:r>
          </a:p>
          <a:p>
            <a:r>
              <a:rPr lang="ru-RU" sz="2400" dirty="0">
                <a:solidFill>
                  <a:srgbClr val="5F5F5F"/>
                </a:solidFill>
                <a:latin typeface="Samsung SS Body Light" pitchFamily="2" charset="0"/>
                <a:cs typeface="Samsung SS Body Light" pitchFamily="2" charset="0"/>
              </a:rPr>
              <a:t>Штрафы и санкции </a:t>
            </a:r>
          </a:p>
          <a:p>
            <a:r>
              <a:rPr lang="ru-RU" sz="2400" dirty="0">
                <a:solidFill>
                  <a:srgbClr val="5F5F5F"/>
                </a:solidFill>
                <a:latin typeface="Samsung SS Body Light" pitchFamily="2" charset="0"/>
                <a:cs typeface="Samsung SS Body Light" pitchFamily="2" charset="0"/>
              </a:rPr>
              <a:t>Репутационные потери</a:t>
            </a:r>
          </a:p>
          <a:p>
            <a:endParaRPr lang="ru-RU" sz="2400" dirty="0"/>
          </a:p>
        </p:txBody>
      </p:sp>
      <p:pic>
        <p:nvPicPr>
          <p:cNvPr id="1027" name="Picture 3" descr="Picture background">
            <a:extLst>
              <a:ext uri="{FF2B5EF4-FFF2-40B4-BE49-F238E27FC236}">
                <a16:creationId xmlns:a16="http://schemas.microsoft.com/office/drawing/2014/main" id="{EE37E7BC-19F7-4DC2-BF0B-09597A1DE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406" y="2248694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3214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375FDD-3326-491A-A018-66864BD6C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333333"/>
                </a:solidFill>
                <a:latin typeface="Samsung SS Head Bold" pitchFamily="2" charset="0"/>
                <a:cs typeface="Samsung SS Head Bold" pitchFamily="2" charset="0"/>
              </a:rPr>
              <a:t>Цели и задачи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B8C8B8-F3A9-484D-A6F4-1B5E9D0046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solidFill>
                  <a:srgbClr val="4D4D4D"/>
                </a:solidFill>
                <a:latin typeface="Samsung SS Body Bold" pitchFamily="2" charset="0"/>
                <a:cs typeface="Samsung SS Body Bold" pitchFamily="2" charset="0"/>
              </a:rPr>
              <a:t>Цель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E4746D9-9C69-42B9-A8FD-39EF8BF177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391691"/>
            <a:ext cx="5157787" cy="20608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>
                <a:solidFill>
                  <a:srgbClr val="333333"/>
                </a:solidFill>
                <a:latin typeface="Samsung SS Body Light" pitchFamily="2" charset="0"/>
                <a:cs typeface="Samsung SS Body Light" pitchFamily="2" charset="0"/>
              </a:rPr>
              <a:t>Разработать прототип системы для автоматического обнаружения персональных данных</a:t>
            </a:r>
            <a:br>
              <a:rPr lang="ru-RU" sz="2000" dirty="0">
                <a:solidFill>
                  <a:srgbClr val="333333"/>
                </a:solidFill>
                <a:latin typeface="Samsung SS Body Light" pitchFamily="2" charset="0"/>
                <a:cs typeface="Samsung SS Body Light" pitchFamily="2" charset="0"/>
              </a:rPr>
            </a:br>
            <a:r>
              <a:rPr lang="ru-RU" sz="2000" dirty="0">
                <a:solidFill>
                  <a:srgbClr val="333333"/>
                </a:solidFill>
                <a:latin typeface="Samsung SS Body Light" pitchFamily="2" charset="0"/>
                <a:cs typeface="Samsung SS Body Light" pitchFamily="2" charset="0"/>
              </a:rPr>
              <a:t>в неструктурированных файловых хранилищах и обеспечить универсальность решения для работы с разнородными данными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5A0ECBB-88FB-49EF-892E-AF21DA8C9C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>
                <a:solidFill>
                  <a:srgbClr val="333333"/>
                </a:solidFill>
                <a:latin typeface="Samsung SS Body Bold" pitchFamily="2" charset="0"/>
                <a:cs typeface="Samsung SS Body Bold" pitchFamily="2" charset="0"/>
              </a:rPr>
              <a:t>Задачи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BFB0FE2-5405-49E7-9D22-BED40DF0960C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6172200" y="2698551"/>
            <a:ext cx="4962833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Samsung SS Body Light" pitchFamily="2" charset="0"/>
                <a:cs typeface="Samsung SS Body Light" pitchFamily="2" charset="0"/>
              </a:rPr>
              <a:t>Реализовать обход </a:t>
            </a:r>
            <a:b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Samsung SS Body Light" pitchFamily="2" charset="0"/>
                <a:cs typeface="Samsung SS Body Light" pitchFamily="2" charset="0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Samsung SS Body Light" pitchFamily="2" charset="0"/>
                <a:cs typeface="Samsung SS Body Light" pitchFamily="2" charset="0"/>
              </a:rPr>
              <a:t>файловой системы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Samsung SS Body Light" pitchFamily="2" charset="0"/>
                <a:cs typeface="Samsung SS Body Light" pitchFamily="2" charset="0"/>
              </a:rPr>
              <a:t>Обработать файлы различных </a:t>
            </a:r>
            <a:b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Samsung SS Body Light" pitchFamily="2" charset="0"/>
                <a:cs typeface="Samsung SS Body Light" pitchFamily="2" charset="0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Samsung SS Body Light" pitchFamily="2" charset="0"/>
                <a:cs typeface="Samsung SS Body Light" pitchFamily="2" charset="0"/>
              </a:rPr>
              <a:t>форматов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Samsung SS Body Light" pitchFamily="2" charset="0"/>
                <a:cs typeface="Samsung SS Body Light" pitchFamily="2" charset="0"/>
              </a:rPr>
              <a:t>Извлечь текст из документов </a:t>
            </a:r>
            <a:b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Samsung SS Body Light" pitchFamily="2" charset="0"/>
                <a:cs typeface="Samsung SS Body Light" pitchFamily="2" charset="0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Samsung SS Body Light" pitchFamily="2" charset="0"/>
                <a:cs typeface="Samsung SS Body Light" pitchFamily="2" charset="0"/>
              </a:rPr>
              <a:t>и изображений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Samsung SS Body Light" pitchFamily="2" charset="0"/>
                <a:cs typeface="Samsung SS Body Light" pitchFamily="2" charset="0"/>
              </a:rPr>
              <a:t>Реализовать механизм обнаружения 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Samsung SS Body Light" pitchFamily="2" charset="0"/>
                <a:cs typeface="Samsung SS Body Light" pitchFamily="2" charset="0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Samsung SS Body Light" pitchFamily="2" charset="0"/>
                <a:cs typeface="Samsung SS Body Light" pitchFamily="2" charset="0"/>
              </a:rPr>
              <a:t>персональных данных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Samsung SS Body Light" pitchFamily="2" charset="0"/>
                <a:cs typeface="Samsung SS Body Light" pitchFamily="2" charset="0"/>
              </a:rPr>
              <a:t>Сформировать отчет </a:t>
            </a:r>
            <a:b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Samsung SS Body Light" pitchFamily="2" charset="0"/>
                <a:cs typeface="Samsung SS Body Light" pitchFamily="2" charset="0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Samsung SS Body Light" pitchFamily="2" charset="0"/>
                <a:cs typeface="Samsung SS Body Light" pitchFamily="2" charset="0"/>
              </a:rPr>
              <a:t>по результатам анализа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014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98AF15-8609-4FE2-9FD6-93FBFA809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8268" y="2101362"/>
            <a:ext cx="2222255" cy="556278"/>
          </a:xfrm>
        </p:spPr>
        <p:txBody>
          <a:bodyPr/>
          <a:lstStyle/>
          <a:p>
            <a:pPr algn="ctr"/>
            <a:r>
              <a:rPr lang="ru-RU" dirty="0">
                <a:solidFill>
                  <a:srgbClr val="333333"/>
                </a:solidFill>
                <a:latin typeface="Samsung SS Head Bold" pitchFamily="2" charset="0"/>
                <a:cs typeface="Samsung SS Head Bold" pitchFamily="2" charset="0"/>
              </a:rPr>
              <a:t>Гипотезы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86D2CE-B835-4E15-8588-FFDA59645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0773" y="797046"/>
            <a:ext cx="6172200" cy="5263907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333333"/>
                </a:solidFill>
                <a:latin typeface="Samsung SS Body Light" pitchFamily="2" charset="0"/>
                <a:cs typeface="Samsung SS Body Light" pitchFamily="2" charset="0"/>
              </a:rPr>
              <a:t>Персональные данные можно обнаруживать автоматически через извлечение текста и шаблонный поиск</a:t>
            </a:r>
          </a:p>
          <a:p>
            <a:r>
              <a:rPr lang="ru-RU" dirty="0">
                <a:solidFill>
                  <a:srgbClr val="333333"/>
                </a:solidFill>
                <a:latin typeface="Samsung SS Body Light" pitchFamily="2" charset="0"/>
                <a:cs typeface="Samsung SS Body Light" pitchFamily="2" charset="0"/>
              </a:rPr>
              <a:t>OCR критичен, так как значительная часть данных хранится в виде сканов</a:t>
            </a:r>
          </a:p>
          <a:p>
            <a:r>
              <a:rPr lang="ru-RU" dirty="0">
                <a:solidFill>
                  <a:srgbClr val="333333"/>
                </a:solidFill>
                <a:latin typeface="Samsung SS Body Light" pitchFamily="2" charset="0"/>
                <a:cs typeface="Samsung SS Body Light" pitchFamily="2" charset="0"/>
              </a:rPr>
              <a:t>Даже простые методы (</a:t>
            </a:r>
            <a:r>
              <a:rPr lang="ru-RU" dirty="0" err="1">
                <a:solidFill>
                  <a:srgbClr val="333333"/>
                </a:solidFill>
                <a:latin typeface="Samsung SS Body Light" pitchFamily="2" charset="0"/>
                <a:cs typeface="Samsung SS Body Light" pitchFamily="2" charset="0"/>
              </a:rPr>
              <a:t>regex</a:t>
            </a:r>
            <a:r>
              <a:rPr lang="ru-RU" dirty="0">
                <a:solidFill>
                  <a:srgbClr val="333333"/>
                </a:solidFill>
                <a:latin typeface="Samsung SS Body Light" pitchFamily="2" charset="0"/>
                <a:cs typeface="Samsung SS Body Light" pitchFamily="2" charset="0"/>
              </a:rPr>
              <a:t> + OCR) дают практическую ценность</a:t>
            </a:r>
          </a:p>
        </p:txBody>
      </p:sp>
      <p:pic>
        <p:nvPicPr>
          <p:cNvPr id="2053" name="Picture 5" descr="Picture background">
            <a:extLst>
              <a:ext uri="{FF2B5EF4-FFF2-40B4-BE49-F238E27FC236}">
                <a16:creationId xmlns:a16="http://schemas.microsoft.com/office/drawing/2014/main" id="{EC6C2C1D-7F96-44C1-B14C-236C3A6022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297" y="3270737"/>
            <a:ext cx="2976196" cy="2077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5156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7276C7-A08C-4541-9A97-959C75C1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505" y="248153"/>
            <a:ext cx="9244989" cy="1600200"/>
          </a:xfrm>
        </p:spPr>
        <p:txBody>
          <a:bodyPr/>
          <a:lstStyle/>
          <a:p>
            <a:pPr algn="ctr"/>
            <a:r>
              <a:rPr lang="ru-RU" b="1" dirty="0">
                <a:solidFill>
                  <a:srgbClr val="333333"/>
                </a:solidFill>
                <a:latin typeface="Samsung SS Head Bold" pitchFamily="2" charset="0"/>
                <a:cs typeface="Samsung SS Head Bold" pitchFamily="2" charset="0"/>
              </a:rPr>
              <a:t>Поддерживаемые форматы</a:t>
            </a:r>
            <a:br>
              <a:rPr lang="ru-RU" b="1" dirty="0">
                <a:solidFill>
                  <a:srgbClr val="333333"/>
                </a:solidFill>
                <a:latin typeface="Samsung SS Head Bold" pitchFamily="2" charset="0"/>
                <a:cs typeface="Samsung SS Head Bold" pitchFamily="2" charset="0"/>
              </a:rPr>
            </a:br>
            <a:endParaRPr lang="ru-RU" dirty="0">
              <a:solidFill>
                <a:srgbClr val="333333"/>
              </a:solidFill>
              <a:latin typeface="Samsung SS Head Bold" pitchFamily="2" charset="0"/>
              <a:cs typeface="Samsung SS Head Bold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6367F7-1EF8-4E04-B24D-5BE0324B8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987062"/>
            <a:ext cx="6172200" cy="3873988"/>
          </a:xfrm>
        </p:spPr>
        <p:txBody>
          <a:bodyPr/>
          <a:lstStyle/>
          <a:p>
            <a:pPr marL="0" indent="0" algn="ctr">
              <a:buNone/>
            </a:pPr>
            <a:r>
              <a:rPr lang="ru-RU" b="1" dirty="0">
                <a:solidFill>
                  <a:srgbClr val="333333"/>
                </a:solidFill>
                <a:latin typeface="Samsung SS Body Bold" pitchFamily="2" charset="0"/>
                <a:cs typeface="Samsung SS Body Bold" pitchFamily="2" charset="0"/>
              </a:rPr>
              <a:t>Типы обрабатываемых файлов</a:t>
            </a:r>
            <a:endParaRPr lang="en-US" b="1" dirty="0">
              <a:solidFill>
                <a:srgbClr val="333333"/>
              </a:solidFill>
              <a:latin typeface="Samsung SS Body Bold" pitchFamily="2" charset="0"/>
              <a:cs typeface="Samsung SS Body Bold" pitchFamily="2" charset="0"/>
            </a:endParaRPr>
          </a:p>
          <a:p>
            <a:pPr marL="0" indent="0">
              <a:buNone/>
            </a:pPr>
            <a:endParaRPr lang="ru-RU" dirty="0">
              <a:solidFill>
                <a:srgbClr val="333333"/>
              </a:solidFill>
              <a:latin typeface="Samsung SS Body Bold" pitchFamily="2" charset="0"/>
              <a:cs typeface="Samsung SS Body Bold" pitchFamily="2" charset="0"/>
            </a:endParaRPr>
          </a:p>
          <a:p>
            <a:r>
              <a:rPr lang="ru-RU" dirty="0">
                <a:solidFill>
                  <a:srgbClr val="333333"/>
                </a:solidFill>
              </a:rPr>
              <a:t>Документы: PDF, DOCX, </a:t>
            </a:r>
            <a:r>
              <a:rPr lang="en-US" dirty="0">
                <a:solidFill>
                  <a:srgbClr val="333333"/>
                </a:solidFill>
              </a:rPr>
              <a:t>CSV</a:t>
            </a:r>
            <a:endParaRPr lang="ru-RU" dirty="0">
              <a:solidFill>
                <a:srgbClr val="333333"/>
              </a:solidFill>
            </a:endParaRPr>
          </a:p>
          <a:p>
            <a:r>
              <a:rPr lang="ru-RU" dirty="0">
                <a:solidFill>
                  <a:srgbClr val="333333"/>
                </a:solidFill>
              </a:rPr>
              <a:t>Изображения: JPG, PNG, TIFF </a:t>
            </a:r>
          </a:p>
          <a:p>
            <a:r>
              <a:rPr lang="ru-RU" dirty="0">
                <a:solidFill>
                  <a:srgbClr val="333333"/>
                </a:solidFill>
              </a:rPr>
              <a:t>Сканированные документы (через OCR)</a:t>
            </a:r>
          </a:p>
          <a:p>
            <a:endParaRPr lang="ru-RU" dirty="0">
              <a:solidFill>
                <a:srgbClr val="333333"/>
              </a:solidFill>
            </a:endParaRPr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1CE367F2-11C1-4BF4-9AD3-3D3EEA60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847" y="2057400"/>
            <a:ext cx="1855177" cy="1855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Picture background">
            <a:extLst>
              <a:ext uri="{FF2B5EF4-FFF2-40B4-BE49-F238E27FC236}">
                <a16:creationId xmlns:a16="http://schemas.microsoft.com/office/drawing/2014/main" id="{C4DB8B68-F828-41FE-938E-FF1485199C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1606" y="2057400"/>
            <a:ext cx="1993886" cy="1855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Picture background">
            <a:extLst>
              <a:ext uri="{FF2B5EF4-FFF2-40B4-BE49-F238E27FC236}">
                <a16:creationId xmlns:a16="http://schemas.microsoft.com/office/drawing/2014/main" id="{4A0B3401-89D9-48F2-B88D-F3B1F12B4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627" y="3981931"/>
            <a:ext cx="1993886" cy="1993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Picture background">
            <a:extLst>
              <a:ext uri="{FF2B5EF4-FFF2-40B4-BE49-F238E27FC236}">
                <a16:creationId xmlns:a16="http://schemas.microsoft.com/office/drawing/2014/main" id="{6EBA51CB-DEC9-42AE-9919-5603C502C1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0315" y="4051286"/>
            <a:ext cx="1855177" cy="1855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3521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5EFDF5-550C-4E8F-9A28-036B70763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471" y="308184"/>
            <a:ext cx="7284397" cy="1011115"/>
          </a:xfrm>
        </p:spPr>
        <p:txBody>
          <a:bodyPr>
            <a:normAutofit fontScale="90000"/>
          </a:bodyPr>
          <a:lstStyle/>
          <a:p>
            <a:pPr algn="ctr"/>
            <a:br>
              <a:rPr lang="ru-RU" b="1" dirty="0">
                <a:solidFill>
                  <a:srgbClr val="333333"/>
                </a:solidFill>
                <a:latin typeface="Samsung SS Head Bold" pitchFamily="2" charset="0"/>
                <a:cs typeface="Samsung SS Head Bold" pitchFamily="2" charset="0"/>
              </a:rPr>
            </a:br>
            <a:r>
              <a:rPr lang="ru-RU" b="1" dirty="0">
                <a:solidFill>
                  <a:srgbClr val="333333"/>
                </a:solidFill>
                <a:latin typeface="Samsung SS Head Bold" pitchFamily="2" charset="0"/>
                <a:cs typeface="Samsung SS Head Bold" pitchFamily="2" charset="0"/>
              </a:rPr>
              <a:t>Методы извлечения текста</a:t>
            </a:r>
            <a:br>
              <a:rPr lang="ru-RU" b="1" dirty="0">
                <a:solidFill>
                  <a:srgbClr val="333333"/>
                </a:solidFill>
                <a:latin typeface="Samsung SS Head Bold" pitchFamily="2" charset="0"/>
                <a:cs typeface="Samsung SS Head Bold" pitchFamily="2" charset="0"/>
              </a:rPr>
            </a:br>
            <a:endParaRPr lang="ru-RU" dirty="0">
              <a:solidFill>
                <a:srgbClr val="333333"/>
              </a:solidFill>
              <a:latin typeface="Samsung SS Head Bold" pitchFamily="2" charset="0"/>
              <a:cs typeface="Samsung SS Head Bold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0218A-3ECE-488D-89FA-68E47E937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954" y="1391082"/>
            <a:ext cx="11135429" cy="2738498"/>
          </a:xfrm>
        </p:spPr>
        <p:txBody>
          <a:bodyPr numCol="3">
            <a:normAutofit/>
          </a:bodyPr>
          <a:lstStyle/>
          <a:p>
            <a:pPr algn="ctr"/>
            <a:r>
              <a:rPr lang="ru-RU" dirty="0">
                <a:solidFill>
                  <a:srgbClr val="333333"/>
                </a:solidFill>
              </a:rPr>
              <a:t>PDF → встроенный текст</a:t>
            </a:r>
          </a:p>
          <a:p>
            <a:pPr algn="ctr"/>
            <a:r>
              <a:rPr lang="ru-RU" dirty="0">
                <a:solidFill>
                  <a:srgbClr val="333333"/>
                </a:solidFill>
              </a:rPr>
              <a:t>DOCX / </a:t>
            </a:r>
            <a:r>
              <a:rPr lang="ru-RU" dirty="0" err="1">
                <a:solidFill>
                  <a:srgbClr val="333333"/>
                </a:solidFill>
              </a:rPr>
              <a:t>Excel</a:t>
            </a:r>
            <a:r>
              <a:rPr lang="ru-RU" dirty="0">
                <a:solidFill>
                  <a:srgbClr val="333333"/>
                </a:solidFill>
              </a:rPr>
              <a:t> → </a:t>
            </a:r>
            <a:r>
              <a:rPr lang="ru-RU" dirty="0" err="1">
                <a:solidFill>
                  <a:srgbClr val="333333"/>
                </a:solidFill>
              </a:rPr>
              <a:t>парсинг</a:t>
            </a:r>
            <a:r>
              <a:rPr lang="ru-RU" dirty="0">
                <a:solidFill>
                  <a:srgbClr val="333333"/>
                </a:solidFill>
              </a:rPr>
              <a:t> структуры</a:t>
            </a:r>
          </a:p>
          <a:p>
            <a:pPr algn="ctr"/>
            <a:endParaRPr lang="ru-RU" dirty="0">
              <a:solidFill>
                <a:srgbClr val="333333"/>
              </a:solidFill>
            </a:endParaRPr>
          </a:p>
          <a:p>
            <a:pPr algn="ctr"/>
            <a:r>
              <a:rPr lang="ru-RU" dirty="0">
                <a:solidFill>
                  <a:srgbClr val="333333"/>
                </a:solidFill>
              </a:rPr>
              <a:t>Изображения → OCR (</a:t>
            </a:r>
            <a:r>
              <a:rPr lang="ru-RU" dirty="0" err="1">
                <a:solidFill>
                  <a:srgbClr val="333333"/>
                </a:solidFill>
              </a:rPr>
              <a:t>Tesseract</a:t>
            </a:r>
            <a:r>
              <a:rPr lang="ru-RU" dirty="0">
                <a:solidFill>
                  <a:srgbClr val="333333"/>
                </a:solidFill>
              </a:rPr>
              <a:t>)</a:t>
            </a:r>
          </a:p>
          <a:p>
            <a:pPr algn="ctr"/>
            <a:r>
              <a:rPr lang="ru-RU" dirty="0">
                <a:solidFill>
                  <a:srgbClr val="333333"/>
                </a:solidFill>
              </a:rPr>
              <a:t>несколько попыток OCR</a:t>
            </a:r>
          </a:p>
          <a:p>
            <a:pPr algn="ctr"/>
            <a:endParaRPr lang="ru-RU" dirty="0">
              <a:solidFill>
                <a:srgbClr val="333333"/>
              </a:solidFill>
            </a:endParaRPr>
          </a:p>
          <a:p>
            <a:pPr algn="ctr"/>
            <a:r>
              <a:rPr lang="ru-RU" dirty="0">
                <a:solidFill>
                  <a:srgbClr val="333333"/>
                </a:solidFill>
              </a:rPr>
              <a:t>улучшение качества изображения (</a:t>
            </a:r>
            <a:r>
              <a:rPr lang="ru-RU" dirty="0" err="1">
                <a:solidFill>
                  <a:srgbClr val="333333"/>
                </a:solidFill>
              </a:rPr>
              <a:t>contrast</a:t>
            </a:r>
            <a:r>
              <a:rPr lang="ru-RU" dirty="0">
                <a:solidFill>
                  <a:srgbClr val="333333"/>
                </a:solidFill>
              </a:rPr>
              <a:t>, </a:t>
            </a:r>
            <a:r>
              <a:rPr lang="ru-RU" dirty="0" err="1">
                <a:solidFill>
                  <a:srgbClr val="333333"/>
                </a:solidFill>
              </a:rPr>
              <a:t>threshold</a:t>
            </a:r>
            <a:r>
              <a:rPr lang="ru-RU" dirty="0">
                <a:solidFill>
                  <a:srgbClr val="333333"/>
                </a:solidFill>
              </a:rPr>
              <a:t>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F041B16-1B4B-4F88-8FF0-6F1976C71E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223" y="3918925"/>
            <a:ext cx="2431102" cy="243110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14F552B-B47F-4F3D-B14E-BCA0E625D5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4171979" y="4216237"/>
            <a:ext cx="4211388" cy="18280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81E8948-566D-47DA-A091-82F345E177D6}"/>
              </a:ext>
            </a:extLst>
          </p:cNvPr>
          <p:cNvSpPr txBox="1"/>
          <p:nvPr/>
        </p:nvSpPr>
        <p:spPr>
          <a:xfrm>
            <a:off x="8562060" y="4668582"/>
            <a:ext cx="27156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 err="1">
                <a:latin typeface="Samsung SS Body Light" pitchFamily="2" charset="0"/>
                <a:cs typeface="Samsung SS Body Light" pitchFamily="2" charset="0"/>
              </a:rPr>
              <a:t>Улыбаися</a:t>
            </a:r>
            <a:r>
              <a:rPr lang="ru-RU" dirty="0">
                <a:latin typeface="Samsung SS Body Light" pitchFamily="2" charset="0"/>
                <a:cs typeface="Samsung SS Body Light" pitchFamily="2" charset="0"/>
              </a:rPr>
              <a:t> чаше</a:t>
            </a:r>
          </a:p>
          <a:p>
            <a:endParaRPr lang="ru-RU" dirty="0">
              <a:latin typeface="Samsung SS Body Light" pitchFamily="2" charset="0"/>
              <a:cs typeface="Samsung SS Body Light" pitchFamily="2" charset="0"/>
            </a:endParaRPr>
          </a:p>
          <a:p>
            <a:pPr algn="ctr"/>
            <a:r>
              <a:rPr lang="ru-RU" dirty="0">
                <a:latin typeface="Samsung SS Body Light" pitchFamily="2" charset="0"/>
                <a:cs typeface="Samsung SS Body Light" pitchFamily="2" charset="0"/>
              </a:rPr>
              <a:t>И чаша улыбнется тебе</a:t>
            </a:r>
          </a:p>
        </p:txBody>
      </p:sp>
    </p:spTree>
    <p:extLst>
      <p:ext uri="{BB962C8B-B14F-4D97-AF65-F5344CB8AC3E}">
        <p14:creationId xmlns:p14="http://schemas.microsoft.com/office/powerpoint/2010/main" val="2384403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F59912-1040-4FBA-828A-5C09FD60B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0868" y="193431"/>
            <a:ext cx="8400927" cy="1600200"/>
          </a:xfrm>
        </p:spPr>
        <p:txBody>
          <a:bodyPr/>
          <a:lstStyle/>
          <a:p>
            <a:pPr algn="ctr"/>
            <a:r>
              <a:rPr lang="ru-RU" b="1" dirty="0">
                <a:solidFill>
                  <a:srgbClr val="333333"/>
                </a:solidFill>
                <a:latin typeface="Samsung SS Head Bold" pitchFamily="2" charset="0"/>
                <a:cs typeface="Samsung SS Head Bold" pitchFamily="2" charset="0"/>
              </a:rPr>
              <a:t>Повышение качества OCR</a:t>
            </a:r>
            <a:br>
              <a:rPr lang="ru-RU" dirty="0">
                <a:solidFill>
                  <a:srgbClr val="333333"/>
                </a:solidFill>
                <a:latin typeface="Samsung SS Head Bold" pitchFamily="2" charset="0"/>
                <a:cs typeface="Samsung SS Head Bold" pitchFamily="2" charset="0"/>
              </a:rPr>
            </a:br>
            <a:endParaRPr lang="ru-RU" dirty="0">
              <a:solidFill>
                <a:srgbClr val="333333"/>
              </a:solidFill>
              <a:latin typeface="Samsung SS Head Bold" pitchFamily="2" charset="0"/>
              <a:cs typeface="Samsung SS Head Bold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2D8BBA-1D51-4064-AF79-7CDC42C28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073" y="1591201"/>
            <a:ext cx="11139853" cy="1954214"/>
          </a:xfrm>
        </p:spPr>
        <p:txBody>
          <a:bodyPr numCol="3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5F5F5F"/>
                </a:solidFill>
                <a:latin typeface="Samsung SS Body Light" pitchFamily="2" charset="0"/>
                <a:cs typeface="Samsung SS Body Light" pitchFamily="2" charset="0"/>
              </a:rPr>
              <a:t>1)</a:t>
            </a:r>
            <a:r>
              <a:rPr lang="ru-RU" dirty="0">
                <a:solidFill>
                  <a:srgbClr val="5F5F5F"/>
                </a:solidFill>
                <a:latin typeface="Samsung SS Body Light" pitchFamily="2" charset="0"/>
                <a:cs typeface="Samsung SS Body Light" pitchFamily="2" charset="0"/>
              </a:rPr>
              <a:t> Предобработка изображений: </a:t>
            </a:r>
          </a:p>
          <a:p>
            <a:pPr lvl="1" algn="ctr"/>
            <a:r>
              <a:rPr lang="ru-RU" dirty="0">
                <a:solidFill>
                  <a:srgbClr val="5F5F5F"/>
                </a:solidFill>
                <a:latin typeface="Samsung SS Body Light" pitchFamily="2" charset="0"/>
                <a:cs typeface="Samsung SS Body Light" pitchFamily="2" charset="0"/>
              </a:rPr>
              <a:t>повышение контраста </a:t>
            </a:r>
          </a:p>
          <a:p>
            <a:pPr lvl="1" algn="ctr"/>
            <a:r>
              <a:rPr lang="ru-RU" dirty="0">
                <a:solidFill>
                  <a:srgbClr val="5F5F5F"/>
                </a:solidFill>
                <a:latin typeface="Samsung SS Body Light" pitchFamily="2" charset="0"/>
                <a:cs typeface="Samsung SS Body Light" pitchFamily="2" charset="0"/>
              </a:rPr>
              <a:t>масштабирование </a:t>
            </a:r>
            <a:endParaRPr lang="en-US" dirty="0">
              <a:solidFill>
                <a:srgbClr val="5F5F5F"/>
              </a:solidFill>
              <a:latin typeface="Samsung SS Body Light" pitchFamily="2" charset="0"/>
              <a:cs typeface="Samsung SS Body Light" pitchFamily="2" charset="0"/>
            </a:endParaRPr>
          </a:p>
          <a:p>
            <a:pPr marL="0" indent="0" algn="ctr">
              <a:buNone/>
            </a:pPr>
            <a:r>
              <a:rPr lang="ru-RU" dirty="0">
                <a:solidFill>
                  <a:srgbClr val="5F5F5F"/>
                </a:solidFill>
                <a:latin typeface="Samsung SS Body Light" pitchFamily="2" charset="0"/>
                <a:cs typeface="Samsung SS Body Light" pitchFamily="2" charset="0"/>
              </a:rPr>
              <a:t>2) несколько режимов распознавания (PSM) </a:t>
            </a:r>
          </a:p>
          <a:p>
            <a:pPr marL="0" indent="0" algn="ctr">
              <a:buNone/>
            </a:pPr>
            <a:endParaRPr lang="ru-RU" dirty="0">
              <a:solidFill>
                <a:srgbClr val="5F5F5F"/>
              </a:solidFill>
              <a:latin typeface="Samsung SS Body Light" pitchFamily="2" charset="0"/>
              <a:cs typeface="Samsung SS Body Light" pitchFamily="2" charset="0"/>
            </a:endParaRPr>
          </a:p>
          <a:p>
            <a:pPr marL="0" indent="0" algn="ctr">
              <a:buNone/>
            </a:pPr>
            <a:r>
              <a:rPr lang="ru-RU" dirty="0">
                <a:solidFill>
                  <a:srgbClr val="5F5F5F"/>
                </a:solidFill>
                <a:latin typeface="Samsung SS Body Light" pitchFamily="2" charset="0"/>
                <a:cs typeface="Samsung SS Body Light" pitchFamily="2" charset="0"/>
              </a:rPr>
              <a:t>3) </a:t>
            </a:r>
            <a:r>
              <a:rPr lang="ru-RU" dirty="0" err="1">
                <a:solidFill>
                  <a:srgbClr val="5F5F5F"/>
                </a:solidFill>
                <a:latin typeface="Samsung SS Body Light" pitchFamily="2" charset="0"/>
                <a:cs typeface="Samsung SS Body Light" pitchFamily="2" charset="0"/>
              </a:rPr>
              <a:t>fallback</a:t>
            </a:r>
            <a:r>
              <a:rPr lang="ru-RU" dirty="0">
                <a:solidFill>
                  <a:srgbClr val="5F5F5F"/>
                </a:solidFill>
                <a:latin typeface="Samsung SS Body Light" pitchFamily="2" charset="0"/>
                <a:cs typeface="Samsung SS Body Light" pitchFamily="2" charset="0"/>
              </a:rPr>
              <a:t> стратегии: </a:t>
            </a:r>
          </a:p>
          <a:p>
            <a:pPr lvl="1" algn="ctr"/>
            <a:r>
              <a:rPr lang="ru-RU" dirty="0">
                <a:solidFill>
                  <a:srgbClr val="5F5F5F"/>
                </a:solidFill>
                <a:latin typeface="Samsung SS Body Light" pitchFamily="2" charset="0"/>
                <a:cs typeface="Samsung SS Body Light" pitchFamily="2" charset="0"/>
              </a:rPr>
              <a:t>обычный OCR </a:t>
            </a:r>
          </a:p>
          <a:p>
            <a:pPr lvl="1" algn="ctr"/>
            <a:r>
              <a:rPr lang="ru-RU" dirty="0">
                <a:solidFill>
                  <a:srgbClr val="5F5F5F"/>
                </a:solidFill>
                <a:latin typeface="Samsung SS Body Light" pitchFamily="2" charset="0"/>
                <a:cs typeface="Samsung SS Body Light" pitchFamily="2" charset="0"/>
              </a:rPr>
              <a:t>только цифры (для номеров)</a:t>
            </a:r>
          </a:p>
          <a:p>
            <a:endParaRPr lang="ru-RU" dirty="0">
              <a:solidFill>
                <a:srgbClr val="5F5F5F"/>
              </a:solidFill>
              <a:latin typeface="Samsung SS Body Light" pitchFamily="2" charset="0"/>
              <a:cs typeface="Samsung SS Body Light" pitchFamily="2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302E7F4-8B53-4420-B754-04DFBABCD7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948" y="3709375"/>
            <a:ext cx="2478272" cy="247827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0C80491-74DF-47AC-B722-1EB305D422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4124975" y="4145898"/>
            <a:ext cx="4211388" cy="182802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64F735B-E198-4F5B-93D3-644C4A6C29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7117" y="3709375"/>
            <a:ext cx="2478272" cy="247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519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86CBA4-C0DB-477C-81BB-3961A4280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536330"/>
            <a:ext cx="3932237" cy="1600200"/>
          </a:xfrm>
        </p:spPr>
        <p:txBody>
          <a:bodyPr/>
          <a:lstStyle/>
          <a:p>
            <a:pPr algn="ctr"/>
            <a:r>
              <a:rPr lang="ru-RU" b="1" dirty="0" err="1">
                <a:solidFill>
                  <a:srgbClr val="1C1C1C"/>
                </a:solidFill>
                <a:latin typeface="Samsung SS Head Bold" pitchFamily="2" charset="0"/>
                <a:cs typeface="Samsung SS Head Bold" pitchFamily="2" charset="0"/>
              </a:rPr>
              <a:t>Детекция</a:t>
            </a:r>
            <a:r>
              <a:rPr lang="ru-RU" b="1" dirty="0">
                <a:solidFill>
                  <a:srgbClr val="1C1C1C"/>
                </a:solidFill>
                <a:latin typeface="Samsung SS Head Bold" pitchFamily="2" charset="0"/>
                <a:cs typeface="Samsung SS Head Bold" pitchFamily="2" charset="0"/>
              </a:rPr>
              <a:t> </a:t>
            </a:r>
            <a:r>
              <a:rPr lang="ru-RU" b="1" dirty="0" err="1">
                <a:solidFill>
                  <a:srgbClr val="1C1C1C"/>
                </a:solidFill>
                <a:latin typeface="Samsung SS Head Bold" pitchFamily="2" charset="0"/>
                <a:cs typeface="Samsung SS Head Bold" pitchFamily="2" charset="0"/>
              </a:rPr>
              <a:t>ПДн</a:t>
            </a:r>
            <a:br>
              <a:rPr lang="ru-RU" b="1" dirty="0">
                <a:solidFill>
                  <a:srgbClr val="333333"/>
                </a:solidFill>
                <a:latin typeface="Samsung SS Head Bold" pitchFamily="2" charset="0"/>
                <a:cs typeface="Samsung SS Head Bold" pitchFamily="2" charset="0"/>
              </a:rPr>
            </a:br>
            <a:endParaRPr lang="ru-RU" dirty="0">
              <a:solidFill>
                <a:srgbClr val="333333"/>
              </a:solidFill>
              <a:latin typeface="Samsung SS Head Bold" pitchFamily="2" charset="0"/>
              <a:cs typeface="Samsung SS Head Bold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08B158-D75E-4E2B-BC7D-AB17F59FC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b="1" dirty="0">
                <a:solidFill>
                  <a:srgbClr val="333333"/>
                </a:solidFill>
                <a:latin typeface="Samsung SS Body Bold" pitchFamily="2" charset="0"/>
                <a:cs typeface="Samsung SS Body Bold" pitchFamily="2" charset="0"/>
              </a:rPr>
              <a:t>Метод обнаружения</a:t>
            </a:r>
            <a:endParaRPr lang="ru-RU" dirty="0">
              <a:solidFill>
                <a:srgbClr val="333333"/>
              </a:solidFill>
              <a:latin typeface="Samsung SS Body Bold" pitchFamily="2" charset="0"/>
              <a:cs typeface="Samsung SS Body Bold" pitchFamily="2" charset="0"/>
            </a:endParaRPr>
          </a:p>
          <a:p>
            <a:pPr marL="0" indent="0">
              <a:buNone/>
            </a:pPr>
            <a:r>
              <a:rPr lang="ru-RU" dirty="0">
                <a:solidFill>
                  <a:srgbClr val="5F5F5F"/>
                </a:solidFill>
                <a:latin typeface="Samsung SS Body Light" pitchFamily="2" charset="0"/>
                <a:cs typeface="Samsung SS Body Light" pitchFamily="2" charset="0"/>
              </a:rPr>
              <a:t>Используются регулярные выражения для:</a:t>
            </a:r>
          </a:p>
          <a:p>
            <a:r>
              <a:rPr lang="ru-RU" dirty="0">
                <a:solidFill>
                  <a:srgbClr val="5F5F5F"/>
                </a:solidFill>
                <a:latin typeface="Samsung SS Body Light" pitchFamily="2" charset="0"/>
                <a:cs typeface="Samsung SS Body Light" pitchFamily="2" charset="0"/>
              </a:rPr>
              <a:t>СНИЛС </a:t>
            </a:r>
          </a:p>
          <a:p>
            <a:r>
              <a:rPr lang="ru-RU" dirty="0">
                <a:solidFill>
                  <a:srgbClr val="5F5F5F"/>
                </a:solidFill>
                <a:latin typeface="Samsung SS Body Light" pitchFamily="2" charset="0"/>
                <a:cs typeface="Samsung SS Body Light" pitchFamily="2" charset="0"/>
              </a:rPr>
              <a:t>Паспорт </a:t>
            </a:r>
          </a:p>
          <a:p>
            <a:r>
              <a:rPr lang="ru-RU" dirty="0">
                <a:solidFill>
                  <a:srgbClr val="5F5F5F"/>
                </a:solidFill>
                <a:latin typeface="Samsung SS Body Light" pitchFamily="2" charset="0"/>
                <a:cs typeface="Samsung SS Body Light" pitchFamily="2" charset="0"/>
              </a:rPr>
              <a:t>ИНН </a:t>
            </a:r>
          </a:p>
          <a:p>
            <a:r>
              <a:rPr lang="ru-RU" dirty="0">
                <a:solidFill>
                  <a:srgbClr val="5F5F5F"/>
                </a:solidFill>
                <a:latin typeface="Samsung SS Body Light" pitchFamily="2" charset="0"/>
                <a:cs typeface="Samsung SS Body Light" pitchFamily="2" charset="0"/>
              </a:rPr>
              <a:t>Телефон </a:t>
            </a:r>
          </a:p>
          <a:p>
            <a:r>
              <a:rPr lang="ru-RU" dirty="0" err="1">
                <a:solidFill>
                  <a:srgbClr val="5F5F5F"/>
                </a:solidFill>
                <a:latin typeface="Samsung SS Body Light" pitchFamily="2" charset="0"/>
                <a:cs typeface="Samsung SS Body Light" pitchFamily="2" charset="0"/>
              </a:rPr>
              <a:t>Email</a:t>
            </a:r>
            <a:endParaRPr lang="ru-RU" dirty="0">
              <a:solidFill>
                <a:srgbClr val="5F5F5F"/>
              </a:solidFill>
              <a:latin typeface="Samsung SS Body Light" pitchFamily="2" charset="0"/>
              <a:cs typeface="Samsung SS Body Light" pitchFamily="2" charset="0"/>
            </a:endParaRPr>
          </a:p>
          <a:p>
            <a:pPr marL="0" indent="0">
              <a:buNone/>
            </a:pPr>
            <a:r>
              <a:rPr lang="ru-RU" dirty="0">
                <a:solidFill>
                  <a:srgbClr val="5F5F5F"/>
                </a:solidFill>
                <a:latin typeface="Samsung SS Body Light" pitchFamily="2" charset="0"/>
                <a:cs typeface="Samsung SS Body Light" pitchFamily="2" charset="0"/>
              </a:rPr>
              <a:t>Например: </a:t>
            </a:r>
            <a:r>
              <a:rPr lang="en-US" sz="2600" dirty="0">
                <a:solidFill>
                  <a:srgbClr val="5F5F5F"/>
                </a:solidFill>
                <a:latin typeface="Samsung SS Body Light" pitchFamily="2" charset="0"/>
                <a:cs typeface="Samsung SS Body Light" pitchFamily="2" charset="0"/>
              </a:rPr>
              <a:t>\d{3}-\d{3}-\d{3} \d{2}  (</a:t>
            </a:r>
            <a:r>
              <a:rPr lang="ru-RU" sz="2600" dirty="0">
                <a:solidFill>
                  <a:srgbClr val="5F5F5F"/>
                </a:solidFill>
                <a:latin typeface="Samsung SS Body Light" pitchFamily="2" charset="0"/>
                <a:cs typeface="Samsung SS Body Light" pitchFamily="2" charset="0"/>
              </a:rPr>
              <a:t>СНИЛС)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209EE60-565C-46CB-9A25-B6D38A6C00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971" y="2430013"/>
            <a:ext cx="3171869" cy="3171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11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021C14-8FC2-46AB-957D-35609ED4B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333333"/>
                </a:solidFill>
                <a:latin typeface="Samsung SS Head Bold" pitchFamily="2" charset="0"/>
                <a:cs typeface="Samsung SS Head Bold" pitchFamily="2" charset="0"/>
              </a:rPr>
              <a:t>Архитектура решения</a:t>
            </a:r>
            <a:br>
              <a:rPr lang="ru-RU" dirty="0">
                <a:solidFill>
                  <a:srgbClr val="333333"/>
                </a:solidFill>
                <a:latin typeface="Samsung SS Head Bold" pitchFamily="2" charset="0"/>
                <a:cs typeface="Samsung SS Head Bold" pitchFamily="2" charset="0"/>
              </a:rPr>
            </a:br>
            <a:endParaRPr lang="ru-RU" dirty="0">
              <a:solidFill>
                <a:srgbClr val="333333"/>
              </a:solidFill>
              <a:latin typeface="Samsung SS Head Bold" pitchFamily="2" charset="0"/>
              <a:cs typeface="Samsung SS Head Bold" pitchFamily="2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11E513-08AD-419A-A3EA-0433BCC6CB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04646" y="1825625"/>
            <a:ext cx="4015154" cy="15141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4D4D4D"/>
                </a:solidFill>
                <a:latin typeface="Samsung SS Body Bold" pitchFamily="2" charset="0"/>
                <a:cs typeface="Samsung SS Body Bold" pitchFamily="2" charset="0"/>
              </a:rPr>
              <a:t>FileProcessor</a:t>
            </a:r>
            <a:endParaRPr lang="en-US" dirty="0">
              <a:solidFill>
                <a:srgbClr val="4D4D4D"/>
              </a:solidFill>
              <a:latin typeface="Samsung SS Body Bold" pitchFamily="2" charset="0"/>
              <a:cs typeface="Samsung SS Body Bold" pitchFamily="2" charset="0"/>
            </a:endParaRPr>
          </a:p>
          <a:p>
            <a:r>
              <a:rPr lang="ru-RU" dirty="0">
                <a:solidFill>
                  <a:srgbClr val="5F5F5F"/>
                </a:solidFill>
                <a:latin typeface="Samsung SS Body Light" pitchFamily="2" charset="0"/>
                <a:cs typeface="Samsung SS Body Light" pitchFamily="2" charset="0"/>
              </a:rPr>
              <a:t>поиск файлов</a:t>
            </a:r>
          </a:p>
          <a:p>
            <a:r>
              <a:rPr lang="ru-RU" dirty="0">
                <a:solidFill>
                  <a:srgbClr val="5F5F5F"/>
                </a:solidFill>
                <a:latin typeface="Samsung SS Body Light" pitchFamily="2" charset="0"/>
                <a:cs typeface="Samsung SS Body Light" pitchFamily="2" charset="0"/>
              </a:rPr>
              <a:t>извлечение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D3CEDF1-15B3-44B5-993E-991EDAAB6B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89176" y="1825625"/>
            <a:ext cx="4164624" cy="10230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4D4D4D"/>
                </a:solidFill>
                <a:latin typeface="Samsung SS Body Bold" pitchFamily="2" charset="0"/>
                <a:cs typeface="Samsung SS Body Bold" pitchFamily="2" charset="0"/>
              </a:rPr>
              <a:t>PersonalDataDetector</a:t>
            </a:r>
            <a:endParaRPr lang="en-US" dirty="0">
              <a:solidFill>
                <a:srgbClr val="4D4D4D"/>
              </a:solidFill>
              <a:latin typeface="Samsung SS Body Bold" pitchFamily="2" charset="0"/>
              <a:cs typeface="Samsung SS Body Bold" pitchFamily="2" charset="0"/>
            </a:endParaRPr>
          </a:p>
          <a:p>
            <a:r>
              <a:rPr lang="ru-RU" dirty="0">
                <a:solidFill>
                  <a:srgbClr val="5F5F5F"/>
                </a:solidFill>
                <a:latin typeface="Samsung SS Body Light" pitchFamily="2" charset="0"/>
                <a:cs typeface="Samsung SS Body Light" pitchFamily="2" charset="0"/>
              </a:rPr>
              <a:t>поиск </a:t>
            </a:r>
            <a:r>
              <a:rPr lang="ru-RU" dirty="0" err="1">
                <a:solidFill>
                  <a:srgbClr val="5F5F5F"/>
                </a:solidFill>
                <a:latin typeface="Samsung SS Body Light" pitchFamily="2" charset="0"/>
                <a:cs typeface="Samsung SS Body Light" pitchFamily="2" charset="0"/>
              </a:rPr>
              <a:t>ПДн</a:t>
            </a:r>
            <a:endParaRPr lang="ru-RU" dirty="0">
              <a:solidFill>
                <a:srgbClr val="5F5F5F"/>
              </a:solidFill>
              <a:latin typeface="Samsung SS Body Light" pitchFamily="2" charset="0"/>
              <a:cs typeface="Samsung SS Body Light" pitchFamily="2" charset="0"/>
            </a:endParaRPr>
          </a:p>
          <a:p>
            <a:endParaRPr lang="ru-RU" dirty="0">
              <a:solidFill>
                <a:srgbClr val="5F5F5F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B080E71-BCB4-4631-9F20-6DB5492B47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9176" y="3845523"/>
            <a:ext cx="3147647" cy="208925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F797976-F7CD-4386-83E0-7520A6274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4275" y="3518195"/>
            <a:ext cx="2649450" cy="241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687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3F2BFC-F5A9-47B7-AA09-EC0FB01F8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506"/>
            <a:ext cx="10515600" cy="1325563"/>
          </a:xfrm>
        </p:spPr>
        <p:txBody>
          <a:bodyPr/>
          <a:lstStyle/>
          <a:p>
            <a:r>
              <a:rPr lang="ru-RU" dirty="0">
                <a:solidFill>
                  <a:srgbClr val="333333"/>
                </a:solidFill>
                <a:latin typeface="Samsung SS Head Bold" pitchFamily="2" charset="0"/>
                <a:cs typeface="Samsung SS Head Bold" pitchFamily="2" charset="0"/>
              </a:rPr>
              <a:t>Итоги обработки файлов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1DD8905-CBCF-41B8-B70F-66AC355B84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44624"/>
            <a:ext cx="5157787" cy="393822"/>
          </a:xfrm>
        </p:spPr>
        <p:txBody>
          <a:bodyPr>
            <a:normAutofit lnSpcReduction="10000"/>
          </a:bodyPr>
          <a:lstStyle/>
          <a:p>
            <a:r>
              <a:rPr lang="ru-RU" dirty="0">
                <a:solidFill>
                  <a:srgbClr val="4D4D4D"/>
                </a:solidFill>
                <a:latin typeface="Samsung SS Body Bold" pitchFamily="2" charset="0"/>
                <a:cs typeface="Samsung SS Body Bold" pitchFamily="2" charset="0"/>
              </a:rPr>
              <a:t>Обработка программы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EFC3D07-44D5-43EE-9045-5C9B144FEE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2540975"/>
            <a:ext cx="5157787" cy="1316038"/>
          </a:xfrm>
        </p:spPr>
        <p:txBody>
          <a:bodyPr/>
          <a:lstStyle/>
          <a:p>
            <a:r>
              <a:rPr lang="ru-RU" dirty="0">
                <a:solidFill>
                  <a:srgbClr val="5F5F5F"/>
                </a:solidFill>
                <a:latin typeface="Samsung SS Body Light" pitchFamily="2" charset="0"/>
                <a:cs typeface="Samsung SS Body Light" pitchFamily="2" charset="0"/>
              </a:rPr>
              <a:t>Найдено </a:t>
            </a:r>
            <a:r>
              <a:rPr lang="ru-RU" dirty="0" err="1">
                <a:solidFill>
                  <a:srgbClr val="5F5F5F"/>
                </a:solidFill>
                <a:latin typeface="Samsung SS Body Light" pitchFamily="2" charset="0"/>
                <a:cs typeface="Samsung SS Body Light" pitchFamily="2" charset="0"/>
              </a:rPr>
              <a:t>ПДн</a:t>
            </a:r>
            <a:r>
              <a:rPr lang="ru-RU" dirty="0">
                <a:solidFill>
                  <a:srgbClr val="5F5F5F"/>
                </a:solidFill>
                <a:latin typeface="Samsung SS Body Light" pitchFamily="2" charset="0"/>
                <a:cs typeface="Samsung SS Body Light" pitchFamily="2" charset="0"/>
              </a:rPr>
              <a:t> файлов: 24</a:t>
            </a:r>
          </a:p>
          <a:p>
            <a:r>
              <a:rPr lang="ru-RU" dirty="0">
                <a:solidFill>
                  <a:srgbClr val="5F5F5F"/>
                </a:solidFill>
                <a:latin typeface="Samsung SS Body Light" pitchFamily="2" charset="0"/>
                <a:cs typeface="Samsung SS Body Light" pitchFamily="2" charset="0"/>
              </a:rPr>
              <a:t>Результат: ≈</a:t>
            </a:r>
            <a:r>
              <a:rPr lang="en-US" dirty="0">
                <a:solidFill>
                  <a:srgbClr val="5F5F5F"/>
                </a:solidFill>
                <a:latin typeface="Samsung SS Body Light" pitchFamily="2" charset="0"/>
                <a:cs typeface="Samsung SS Body Light" pitchFamily="2" charset="0"/>
              </a:rPr>
              <a:t>0.06</a:t>
            </a:r>
            <a:endParaRPr lang="ru-RU" dirty="0">
              <a:solidFill>
                <a:srgbClr val="5F5F5F"/>
              </a:solidFill>
              <a:latin typeface="Samsung SS Body Light" pitchFamily="2" charset="0"/>
              <a:cs typeface="Samsung SS Body Light" pitchFamily="2" charset="0"/>
            </a:endParaRPr>
          </a:p>
          <a:p>
            <a:pPr marL="0" indent="0">
              <a:buNone/>
            </a:pPr>
            <a:endParaRPr lang="ru-RU" dirty="0">
              <a:solidFill>
                <a:srgbClr val="5F5F5F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E853ED5-0067-449B-8CC3-755FE03035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612" y="1444624"/>
            <a:ext cx="5183188" cy="823912"/>
          </a:xfrm>
        </p:spPr>
        <p:txBody>
          <a:bodyPr>
            <a:normAutofit lnSpcReduction="10000"/>
          </a:bodyPr>
          <a:lstStyle/>
          <a:p>
            <a:r>
              <a:rPr lang="ru-RU" dirty="0">
                <a:solidFill>
                  <a:srgbClr val="4D4D4D"/>
                </a:solidFill>
                <a:latin typeface="Samsung SS Body Bold" pitchFamily="2" charset="0"/>
                <a:cs typeface="Samsung SS Body Bold" pitchFamily="2" charset="0"/>
              </a:rPr>
              <a:t>Обработка программы + </a:t>
            </a:r>
          </a:p>
          <a:p>
            <a:r>
              <a:rPr lang="ru-RU" dirty="0">
                <a:solidFill>
                  <a:srgbClr val="4D4D4D"/>
                </a:solidFill>
                <a:latin typeface="Samsung SS Body Bold" pitchFamily="2" charset="0"/>
                <a:cs typeface="Samsung SS Body Bold" pitchFamily="2" charset="0"/>
              </a:rPr>
              <a:t>Ручная проверка файлов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89D88BF-CA2C-4FFF-A7FA-DDA55A014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3788" y="2514599"/>
            <a:ext cx="5183188" cy="1442671"/>
          </a:xfrm>
        </p:spPr>
        <p:txBody>
          <a:bodyPr/>
          <a:lstStyle/>
          <a:p>
            <a:r>
              <a:rPr lang="ru-RU" dirty="0">
                <a:solidFill>
                  <a:srgbClr val="5F5F5F"/>
                </a:solidFill>
                <a:latin typeface="Samsung SS Body Light" pitchFamily="2" charset="0"/>
                <a:cs typeface="Samsung SS Body Light" pitchFamily="2" charset="0"/>
              </a:rPr>
              <a:t>После обработки осталось файлов: 4</a:t>
            </a:r>
          </a:p>
          <a:p>
            <a:r>
              <a:rPr lang="ru-RU" dirty="0">
                <a:solidFill>
                  <a:srgbClr val="5F5F5F"/>
                </a:solidFill>
                <a:latin typeface="Samsung SS Body Light" pitchFamily="2" charset="0"/>
                <a:cs typeface="Samsung SS Body Light" pitchFamily="2" charset="0"/>
              </a:rPr>
              <a:t>Результат</a:t>
            </a:r>
            <a:r>
              <a:rPr lang="en-US" dirty="0">
                <a:solidFill>
                  <a:srgbClr val="5F5F5F"/>
                </a:solidFill>
                <a:latin typeface="Samsung SS Body Light" pitchFamily="2" charset="0"/>
                <a:cs typeface="Samsung SS Body Light" pitchFamily="2" charset="0"/>
              </a:rPr>
              <a:t>: 0.114</a:t>
            </a:r>
            <a:endParaRPr lang="ru-RU" dirty="0">
              <a:solidFill>
                <a:srgbClr val="5F5F5F"/>
              </a:solidFill>
              <a:latin typeface="Samsung SS Body Light" pitchFamily="2" charset="0"/>
              <a:cs typeface="Samsung SS Body Light" pitchFamily="2" charset="0"/>
            </a:endParaRPr>
          </a:p>
        </p:txBody>
      </p:sp>
      <p:graphicFrame>
        <p:nvGraphicFramePr>
          <p:cNvPr id="11" name="Диаграмма 10">
            <a:extLst>
              <a:ext uri="{FF2B5EF4-FFF2-40B4-BE49-F238E27FC236}">
                <a16:creationId xmlns:a16="http://schemas.microsoft.com/office/drawing/2014/main" id="{278C5157-08F5-4032-A2E7-C7DE886846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1401369"/>
              </p:ext>
            </p:extLst>
          </p:nvPr>
        </p:nvGraphicFramePr>
        <p:xfrm>
          <a:off x="2947498" y="4203333"/>
          <a:ext cx="6096978" cy="223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52083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180B16-CDA7-4008-953A-A48FE256A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333333"/>
                </a:solidFill>
                <a:latin typeface="Samsung SS Head Bold" pitchFamily="2" charset="0"/>
                <a:cs typeface="Samsung SS Head Bold" pitchFamily="2" charset="0"/>
              </a:rPr>
              <a:t>Результаты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D72DFC-2035-4F0A-9DB4-5449B316BF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dirty="0">
                <a:solidFill>
                  <a:srgbClr val="5F5F5F"/>
                </a:solidFill>
                <a:latin typeface="Samsung SS Body Light" pitchFamily="2" charset="0"/>
                <a:cs typeface="Samsung SS Body Light" pitchFamily="2" charset="0"/>
              </a:rPr>
              <a:t>Реализован обход файловой системы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dirty="0">
                <a:solidFill>
                  <a:srgbClr val="5F5F5F"/>
                </a:solidFill>
                <a:latin typeface="Samsung SS Body Light" pitchFamily="2" charset="0"/>
                <a:cs typeface="Samsung SS Body Light" pitchFamily="2" charset="0"/>
              </a:rPr>
              <a:t>Обработаны файлы различных форматов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dirty="0">
                <a:solidFill>
                  <a:srgbClr val="5F5F5F"/>
                </a:solidFill>
                <a:latin typeface="Samsung SS Body Light" pitchFamily="2" charset="0"/>
                <a:cs typeface="Samsung SS Body Light" pitchFamily="2" charset="0"/>
              </a:rPr>
              <a:t>Извлечение текста из документов и изображений успешно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dirty="0">
                <a:solidFill>
                  <a:srgbClr val="5F5F5F"/>
                </a:solidFill>
                <a:latin typeface="Samsung SS Body Light" pitchFamily="2" charset="0"/>
                <a:cs typeface="Samsung SS Body Light" pitchFamily="2" charset="0"/>
              </a:rPr>
              <a:t>Реализован прототип механизма обнаружения </a:t>
            </a:r>
            <a:br>
              <a:rPr lang="ru-RU" altLang="ru-RU" dirty="0">
                <a:solidFill>
                  <a:srgbClr val="5F5F5F"/>
                </a:solidFill>
                <a:latin typeface="Samsung SS Body Light" pitchFamily="2" charset="0"/>
                <a:cs typeface="Samsung SS Body Light" pitchFamily="2" charset="0"/>
              </a:rPr>
            </a:br>
            <a:r>
              <a:rPr lang="ru-RU" altLang="ru-RU" dirty="0">
                <a:solidFill>
                  <a:srgbClr val="5F5F5F"/>
                </a:solidFill>
                <a:latin typeface="Samsung SS Body Light" pitchFamily="2" charset="0"/>
                <a:cs typeface="Samsung SS Body Light" pitchFamily="2" charset="0"/>
              </a:rPr>
              <a:t>персональных данных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dirty="0">
                <a:solidFill>
                  <a:srgbClr val="5F5F5F"/>
                </a:solidFill>
                <a:latin typeface="Samsung SS Body Light" pitchFamily="2" charset="0"/>
                <a:cs typeface="Samsung SS Body Light" pitchFamily="2" charset="0"/>
              </a:rPr>
              <a:t>Получен результат: 0.114</a:t>
            </a:r>
          </a:p>
        </p:txBody>
      </p:sp>
    </p:spTree>
    <p:extLst>
      <p:ext uri="{BB962C8B-B14F-4D97-AF65-F5344CB8AC3E}">
        <p14:creationId xmlns:p14="http://schemas.microsoft.com/office/powerpoint/2010/main" val="3772480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485FCA-479D-41F3-927E-60DE954EA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333333"/>
                </a:solidFill>
                <a:latin typeface="Samsung SS Head Bold" pitchFamily="2" charset="0"/>
                <a:cs typeface="Samsung SS Head Bold" pitchFamily="2" charset="0"/>
              </a:rPr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68717E-E232-4C0D-AD9B-936309BEB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rgbClr val="5F5F5F"/>
                </a:solidFill>
                <a:latin typeface="Samsung SS Body Light" pitchFamily="2" charset="0"/>
                <a:cs typeface="Samsung SS Body Light" pitchFamily="2" charset="0"/>
              </a:rPr>
              <a:t>В ходе работы был реализован прототип системы, позволяющий автоматически анализировать неструктурированные данные и выявлять персональные данные.</a:t>
            </a:r>
          </a:p>
          <a:p>
            <a:r>
              <a:rPr lang="ru-RU" dirty="0">
                <a:solidFill>
                  <a:srgbClr val="5F5F5F"/>
                </a:solidFill>
                <a:latin typeface="Samsung SS Body Light" pitchFamily="2" charset="0"/>
                <a:cs typeface="Samsung SS Body Light" pitchFamily="2" charset="0"/>
              </a:rPr>
              <a:t>Полученные результаты подтверждают работоспособность подхода и возможность его дальнейшего развития.</a:t>
            </a:r>
          </a:p>
        </p:txBody>
      </p:sp>
    </p:spTree>
    <p:extLst>
      <p:ext uri="{BB962C8B-B14F-4D97-AF65-F5344CB8AC3E}">
        <p14:creationId xmlns:p14="http://schemas.microsoft.com/office/powerpoint/2010/main" val="2352259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3B687B-8C14-4B61-85A8-3E4A77E22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4D4D4D"/>
                </a:solidFill>
                <a:latin typeface="Samsung SS Head Bold" pitchFamily="2" charset="0"/>
                <a:cs typeface="Samsung SS Head Bold" pitchFamily="2" charset="0"/>
              </a:rPr>
              <a:t>Спасибо за внимание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CEDB91AE-C2BA-4B97-B48F-3179EDDBE1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5884" y="1895963"/>
            <a:ext cx="352023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32738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372</Words>
  <Application>Microsoft Office PowerPoint</Application>
  <PresentationFormat>Широкоэкранный</PresentationFormat>
  <Paragraphs>88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Samsung SS Body Bold</vt:lpstr>
      <vt:lpstr>Samsung SS Body Light</vt:lpstr>
      <vt:lpstr>Samsung SS Head Bold</vt:lpstr>
      <vt:lpstr>Тема Office</vt:lpstr>
      <vt:lpstr>Хакатон 2026</vt:lpstr>
      <vt:lpstr>Формулировка задачи</vt:lpstr>
      <vt:lpstr>Цели и задачи</vt:lpstr>
      <vt:lpstr>Гипотезы</vt:lpstr>
      <vt:lpstr>Поддерживаемые форматы </vt:lpstr>
      <vt:lpstr> Методы извлечения текста </vt:lpstr>
      <vt:lpstr>Повышение качества OCR </vt:lpstr>
      <vt:lpstr>Детекция ПДн </vt:lpstr>
      <vt:lpstr>Архитектура решения </vt:lpstr>
      <vt:lpstr>Итоги обработки файлов</vt:lpstr>
      <vt:lpstr>Результаты</vt:lpstr>
      <vt:lpstr>Выводы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Хакатон 2026</dc:title>
  <dc:creator>_ Formao</dc:creator>
  <cp:lastModifiedBy>_ Formao</cp:lastModifiedBy>
  <cp:revision>21</cp:revision>
  <dcterms:created xsi:type="dcterms:W3CDTF">2026-04-19T07:12:38Z</dcterms:created>
  <dcterms:modified xsi:type="dcterms:W3CDTF">2026-04-19T10:54:58Z</dcterms:modified>
</cp:coreProperties>
</file>